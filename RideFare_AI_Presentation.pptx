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D2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D2FF"/>
                </a:solidFill>
                <a:latin typeface="Arial"/>
              </a:rPr>
              <a:t>Mean Absolute Error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(PKR)</c:v>
                </c:pt>
              </c:strCache>
            </c:strRef>
          </c:tx>
          <c:spPr>
            <a:solidFill>
              <a:srgbClr val="00D2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0F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2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2f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Gradient Boosting</c:v>
                  </c:pt>
                  <c:pt idx="2">
                    <c:v>Linear Regression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</c:v>
                </c:pt>
                <c:pt idx="1">
                  <c:v>141</c:v>
                </c:pt>
                <c:pt idx="2">
                  <c:v>957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0F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25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D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7B2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7B2FFF"/>
                </a:solidFill>
                <a:latin typeface="Arial"/>
              </a:rPr>
              <a:t>Root Mean Square Error (lower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(PKR)</c:v>
                </c:pt>
              </c:strCache>
            </c:strRef>
          </c:tx>
          <c:spPr>
            <a:solidFill>
              <a:srgbClr val="00D2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0F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2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2f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Gradient Boosting</c:v>
                  </c:pt>
                  <c:pt idx="2">
                    <c:v>Linear Regression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161</c:v>
                </c:pt>
                <c:pt idx="1">
                  <c:v>187</c:v>
                </c:pt>
                <c:pt idx="2">
                  <c:v>1418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0F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25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D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D3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D2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D2FF"/>
                </a:solidFill>
                <a:latin typeface="Arial"/>
              </a:rPr>
              <a:t>R² Coverage (0.998)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2FF"/>
              </a:solidFill>
              <a:effectLst/>
            </c:spPr>
          </c:dPt>
          <c:dPt>
            <c:idx val="1"/>
            <c:bubble3D val="0"/>
            <c:spPr>
              <a:solidFill>
                <a:srgbClr val="1C254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R² Achieved</c:v>
                </c:pt>
                <c:pt idx="1">
                  <c:v>Gap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99.8</c:v>
                </c:pt>
                <c:pt idx="1">
                  <c:v>0.2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161D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57200"/>
            <a:ext cx="3657600" cy="3657600"/>
          </a:xfrm>
          <a:prstGeom prst="ellipse">
            <a:avLst/>
          </a:prstGeom>
          <a:solidFill>
            <a:srgbClr val="0080FF">
              <a:alpha val="18000"/>
            </a:srgbClr>
          </a:solidFill>
          <a:ln w="12700">
            <a:solidFill>
              <a:srgbClr val="008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7B2FFF">
              <a:alpha val="18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514600"/>
            <a:ext cx="7863840" cy="0"/>
          </a:xfrm>
          <a:prstGeom prst="line">
            <a:avLst/>
          </a:prstGeom>
          <a:noFill/>
          <a:ln w="6350">
            <a:solidFill>
              <a:srgbClr val="00D2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00D2FF"/>
                </a:solidFill>
              </a:rPr>
              <a:t>AI-POWERED FARE ESTIMATION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RideFare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Trip Cost Predictor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05840" y="3383280"/>
            <a:ext cx="2194560" cy="822960"/>
          </a:xfrm>
          <a:prstGeom prst="rect">
            <a:avLst/>
          </a:prstGeom>
          <a:solidFill>
            <a:srgbClr val="1C2540">
              <a:alpha val="80000"/>
            </a:srgbClr>
          </a:solidFill>
          <a:ln w="12700">
            <a:solidFill>
              <a:srgbClr val="00D2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F"/>
                </a:solidFill>
              </a:rPr>
              <a:t>⚡  Real-Time Predictions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3383280"/>
            <a:ext cx="2194560" cy="822960"/>
          </a:xfrm>
          <a:prstGeom prst="rect">
            <a:avLst/>
          </a:prstGeom>
          <a:solidFill>
            <a:srgbClr val="1C2540">
              <a:alpha val="80000"/>
            </a:srgbClr>
          </a:solidFill>
          <a:ln w="12700">
            <a:solidFill>
              <a:srgbClr val="00D2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F"/>
                </a:solidFill>
              </a:rPr>
              <a:t>🤖  3 ML Models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3383280"/>
            <a:ext cx="2194560" cy="822960"/>
          </a:xfrm>
          <a:prstGeom prst="rect">
            <a:avLst/>
          </a:prstGeom>
          <a:solidFill>
            <a:srgbClr val="1C2540">
              <a:alpha val="80000"/>
            </a:srgbClr>
          </a:solidFill>
          <a:ln w="12700">
            <a:solidFill>
              <a:srgbClr val="00D2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F"/>
                </a:solidFill>
              </a:rPr>
              <a:t>📊  Model Comparison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Python  •  Flask  •  scikit-learn  •  Chart.js  •  HTML/CSS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DC3"/>
                </a:solidFill>
              </a:rPr>
              <a:t>Why do ride-share passengers struggle with fare transparency?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1051560"/>
          </a:xfrm>
          <a:prstGeom prst="rect">
            <a:avLst/>
          </a:prstGeom>
          <a:solidFill>
            <a:srgbClr val="161D30"/>
          </a:solidFill>
          <a:ln w="12700">
            <a:solidFill>
              <a:srgbClr val="FF475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64008" cy="10515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57"/>
                </a:solidFill>
              </a:rPr>
              <a:t>❌  Unpredictable Fares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DC3"/>
                </a:solidFill>
              </a:rPr>
              <a:t>Surge pricing and opaque algorithms leave passengers with no reliable way to estimate trip costs before booking.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8138160" cy="1051560"/>
          </a:xfrm>
          <a:prstGeom prst="rect">
            <a:avLst/>
          </a:prstGeom>
          <a:solidFill>
            <a:srgbClr val="161D30"/>
          </a:solidFill>
          <a:ln w="12700">
            <a:solidFill>
              <a:srgbClr val="FFB30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423160"/>
            <a:ext cx="64008" cy="10515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14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</a:rPr>
              <a:t>⚠️  Lack of Transparency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8620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DC3"/>
                </a:solidFill>
              </a:rPr>
              <a:t>Ride-share apps rarely explain how fares are calculated — traffic, ride type, and distance multipliers are hidden.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8138160" cy="1051560"/>
          </a:xfrm>
          <a:prstGeom prst="rect">
            <a:avLst/>
          </a:prstGeom>
          <a:solidFill>
            <a:srgbClr val="161D30"/>
          </a:solidFill>
          <a:ln w="12700">
            <a:solidFill>
              <a:srgbClr val="7B2F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657600"/>
            <a:ext cx="64008" cy="105156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49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FF"/>
                </a:solidFill>
              </a:rPr>
              <a:t>📱  No Comparison Tool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09651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DC3"/>
                </a:solidFill>
              </a:rPr>
              <a:t>Passengers cannot compare fare estimates across different models or services in real time before committing to a ride.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2FF"/>
                </a:solidFill>
              </a:rPr>
              <a:t>RideFare AI — an intelligent, transparent fare prediction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1645920"/>
          </a:xfrm>
          <a:prstGeom prst="rect">
            <a:avLst/>
          </a:prstGeom>
          <a:solidFill>
            <a:srgbClr val="161D30"/>
          </a:solidFill>
          <a:ln w="12700">
            <a:solidFill>
              <a:srgbClr val="00D2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77640" cy="54864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990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D2FF"/>
                </a:solidFill>
              </a:rPr>
              <a:t>🎯  Accurate Predictions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</a:rPr>
              <a:t>Three trained ML models (Random Forest, Gradient Boosting, Linear Regression) deliver fare estimates with up to 99.8% accuracy (R²=0.998).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3977640" cy="1645920"/>
          </a:xfrm>
          <a:prstGeom prst="rect">
            <a:avLst/>
          </a:prstGeom>
          <a:solidFill>
            <a:srgbClr val="161D30"/>
          </a:solidFill>
          <a:ln w="12700">
            <a:solidFill>
              <a:srgbClr val="7B2F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34440"/>
            <a:ext cx="397764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990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2FFF"/>
                </a:solidFill>
              </a:rPr>
              <a:t>🔍  Full Transparency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</a:rPr>
              <a:t>Every prediction shows fare breakdown: base fare + distance rate + traffic multiplier + ride type surcharge. No black boxes.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77640" cy="1645920"/>
          </a:xfrm>
          <a:prstGeom prst="rect">
            <a:avLst/>
          </a:prstGeom>
          <a:solidFill>
            <a:srgbClr val="161D30"/>
          </a:solidFill>
          <a:ln w="12700">
            <a:solidFill>
              <a:srgbClr val="00E57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3977640" cy="54864"/>
          </a:xfrm>
          <a:prstGeom prst="rect">
            <a:avLst/>
          </a:prstGeom>
          <a:solidFill>
            <a:srgbClr val="00E576"/>
          </a:solidFill>
          <a:ln w="12700">
            <a:solidFill>
              <a:srgbClr val="00E5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735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E576"/>
                </a:solidFill>
              </a:rPr>
              <a:t>⚖️  Model Comparison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4360" y="365760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</a:rPr>
              <a:t>Compare all three models side-by-side or select the best prediction automatically — giving riders full control over their estimate.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108960"/>
            <a:ext cx="3977640" cy="1645920"/>
          </a:xfrm>
          <a:prstGeom prst="rect">
            <a:avLst/>
          </a:prstGeom>
          <a:solidFill>
            <a:srgbClr val="161D30"/>
          </a:solidFill>
          <a:ln w="12700">
            <a:solidFill>
              <a:srgbClr val="FFB300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108960"/>
            <a:ext cx="397764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735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300"/>
                </a:solidFill>
              </a:rPr>
              <a:t>🌐  Web Application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</a:rPr>
              <a:t>Flask-powered REST API with a dark-themed, responsive web UI featuring real-time Chart.js visualizations and surge pricing alerts.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749808"/>
            <a:ext cx="1508760" cy="292608"/>
          </a:xfrm>
          <a:prstGeom prst="rect">
            <a:avLst/>
          </a:prstGeom>
          <a:solidFill>
            <a:srgbClr val="0080FF">
              <a:alpha val="22000"/>
            </a:srgbClr>
          </a:solidFill>
          <a:ln w="12700">
            <a:solidFill>
              <a:srgbClr val="0080F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49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0FF"/>
                </a:solidFill>
              </a:rPr>
              <a:t>Python 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130552" y="749808"/>
            <a:ext cx="1508760" cy="292608"/>
          </a:xfrm>
          <a:prstGeom prst="rect">
            <a:avLst/>
          </a:prstGeom>
          <a:solidFill>
            <a:srgbClr val="00D2FF">
              <a:alpha val="22000"/>
            </a:srgbClr>
          </a:solidFill>
          <a:ln w="12700">
            <a:solidFill>
              <a:srgbClr val="00D2FF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30552" y="749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2FF"/>
                </a:solidFill>
              </a:rPr>
              <a:t>scikit-learn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758184" y="749808"/>
            <a:ext cx="1508760" cy="292608"/>
          </a:xfrm>
          <a:prstGeom prst="rect">
            <a:avLst/>
          </a:prstGeom>
          <a:solidFill>
            <a:srgbClr val="7B2FFF">
              <a:alpha val="22000"/>
            </a:srgbClr>
          </a:solidFill>
          <a:ln w="12700">
            <a:solidFill>
              <a:srgbClr val="7B2F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58184" y="749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2FFF"/>
                </a:solidFill>
              </a:rPr>
              <a:t>Flask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85816" y="749808"/>
            <a:ext cx="1508760" cy="292608"/>
          </a:xfrm>
          <a:prstGeom prst="rect">
            <a:avLst/>
          </a:prstGeom>
          <a:solidFill>
            <a:srgbClr val="00E576">
              <a:alpha val="22000"/>
            </a:srgbClr>
          </a:solidFill>
          <a:ln w="12700">
            <a:solidFill>
              <a:srgbClr val="00E576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85816" y="749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76"/>
                </a:solidFill>
              </a:rPr>
              <a:t>pandas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13448" y="749808"/>
            <a:ext cx="1508760" cy="292608"/>
          </a:xfrm>
          <a:prstGeom prst="rect">
            <a:avLst/>
          </a:prstGeom>
          <a:solidFill>
            <a:srgbClr val="FFB300">
              <a:alpha val="22000"/>
            </a:srgbClr>
          </a:solidFill>
          <a:ln w="12700">
            <a:solidFill>
              <a:srgbClr val="FFB300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13448" y="749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300"/>
                </a:solidFill>
              </a:rPr>
              <a:t>Chart.js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234440"/>
            <a:ext cx="1554480" cy="1371600"/>
          </a:xfrm>
          <a:prstGeom prst="rect">
            <a:avLst/>
          </a:prstGeom>
          <a:solidFill>
            <a:srgbClr val="1C2540"/>
          </a:solidFill>
          <a:ln w="12700">
            <a:solidFill>
              <a:srgbClr val="0080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234440"/>
            <a:ext cx="1554480" cy="45720"/>
          </a:xfrm>
          <a:prstGeom prst="rect">
            <a:avLst/>
          </a:prstGeom>
          <a:solidFill>
            <a:srgbClr val="0080FF"/>
          </a:solidFill>
          <a:ln w="12700">
            <a:solidFill>
              <a:srgbClr val="008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0FF"/>
                </a:solidFill>
              </a:rPr>
              <a:t>Raw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80FF"/>
                </a:solidFill>
              </a:rPr>
              <a:t>Generation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1920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10,000 samples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np.random synthetic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01952" y="1920240"/>
            <a:ext cx="347472" cy="0"/>
          </a:xfrm>
          <a:prstGeom prst="line">
            <a:avLst/>
          </a:prstGeom>
          <a:noFill/>
          <a:ln w="19050">
            <a:solidFill>
              <a:srgbClr val="5A6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18288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40280" y="1234440"/>
            <a:ext cx="1554480" cy="1371600"/>
          </a:xfrm>
          <a:prstGeom prst="rect">
            <a:avLst/>
          </a:prstGeom>
          <a:solidFill>
            <a:srgbClr val="1C2540"/>
          </a:solidFill>
          <a:ln w="12700">
            <a:solidFill>
              <a:srgbClr val="00D2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40280" y="1234440"/>
            <a:ext cx="1554480" cy="4572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2FF"/>
                </a:solidFill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2FF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1920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StandardScaler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OneHotEncoder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22192" y="1920240"/>
            <a:ext cx="347472" cy="0"/>
          </a:xfrm>
          <a:prstGeom prst="line">
            <a:avLst/>
          </a:prstGeom>
          <a:noFill/>
          <a:ln w="19050">
            <a:solidFill>
              <a:srgbClr val="5A6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18288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60520" y="1234440"/>
            <a:ext cx="1554480" cy="1371600"/>
          </a:xfrm>
          <a:prstGeom prst="rect">
            <a:avLst/>
          </a:prstGeom>
          <a:solidFill>
            <a:srgbClr val="1C2540"/>
          </a:solidFill>
          <a:ln w="12700">
            <a:solidFill>
              <a:srgbClr val="7B2F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60520" y="1234440"/>
            <a:ext cx="1554480" cy="4572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FFF"/>
                </a:solidFill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B2FFF"/>
                </a:solidFill>
              </a:rPr>
              <a:t>Training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60520" y="1920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RF · GB · LR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scikit-learn Pipeline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742432" y="1920240"/>
            <a:ext cx="347472" cy="0"/>
          </a:xfrm>
          <a:prstGeom prst="line">
            <a:avLst/>
          </a:prstGeom>
          <a:noFill/>
          <a:ln w="19050">
            <a:solidFill>
              <a:srgbClr val="5A6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18288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1234440"/>
            <a:ext cx="1554480" cy="1371600"/>
          </a:xfrm>
          <a:prstGeom prst="rect">
            <a:avLst/>
          </a:prstGeom>
          <a:solidFill>
            <a:srgbClr val="1C2540"/>
          </a:solidFill>
          <a:ln w="12700">
            <a:solidFill>
              <a:srgbClr val="00E57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1234440"/>
            <a:ext cx="1554480" cy="45720"/>
          </a:xfrm>
          <a:prstGeom prst="rect">
            <a:avLst/>
          </a:prstGeom>
          <a:solidFill>
            <a:srgbClr val="00E576"/>
          </a:solidFill>
          <a:ln w="12700">
            <a:solidFill>
              <a:srgbClr val="00E5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76"/>
                </a:solidFill>
              </a:rPr>
              <a:t>Flask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E576"/>
                </a:solidFill>
              </a:rPr>
              <a:t>REST API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80760" y="1920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/predict /compare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/predict_best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662672" y="1920240"/>
            <a:ext cx="347472" cy="0"/>
          </a:xfrm>
          <a:prstGeom prst="line">
            <a:avLst/>
          </a:prstGeom>
          <a:noFill/>
          <a:ln w="19050">
            <a:solidFill>
              <a:srgbClr val="5A6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18288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01000" y="1234440"/>
            <a:ext cx="1554480" cy="1371600"/>
          </a:xfrm>
          <a:prstGeom prst="rect">
            <a:avLst/>
          </a:prstGeom>
          <a:solidFill>
            <a:srgbClr val="1C2540"/>
          </a:solidFill>
          <a:ln w="12700">
            <a:solidFill>
              <a:srgbClr val="FFB30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01000" y="1234440"/>
            <a:ext cx="155448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0" y="1325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</a:rPr>
              <a:t>Web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</a:rPr>
              <a:t>UI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01000" y="19202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Dark UI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Chart.js viz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2834640"/>
            <a:ext cx="8503920" cy="1005840"/>
          </a:xfrm>
          <a:prstGeom prst="rect">
            <a:avLst/>
          </a:prstGeom>
          <a:solidFill>
            <a:srgbClr val="161D30"/>
          </a:solidFill>
          <a:ln w="12700">
            <a:solidFill>
              <a:srgbClr val="00D2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02920" y="2898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</a:rPr>
              <a:t>Pipeline Detail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32004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Input Features (7)  →  ColumnTransformer  →  StandardScaler [distance, passengers]  +  OneHotEncoder [pickup, dropoff, timeofday, traffic, ridetype]  →  Regressor  →  Predicted Fare (PKR)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023360"/>
            <a:ext cx="8503920" cy="731520"/>
          </a:xfrm>
          <a:prstGeom prst="rect">
            <a:avLst/>
          </a:prstGeom>
          <a:solidFill>
            <a:srgbClr val="161D30"/>
          </a:solidFill>
          <a:ln w="12700">
            <a:solidFill>
              <a:srgbClr val="FFB300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920" y="402336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300"/>
                </a:solidFill>
              </a:rPr>
              <a:t>💡  Fare Formula:  Base PKR 200  +  (Distance × PKR 80/km)  ×  Traffic Multiplier (Jam: 1.8×)  ×  Ride Multiplier (Premium: 2.0×)    |    Min Fare: PKR 200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965960" cy="777240"/>
          </a:xfrm>
          <a:prstGeom prst="rect">
            <a:avLst/>
          </a:prstGeom>
          <a:solidFill>
            <a:srgbClr val="1C2540"/>
          </a:solidFill>
          <a:ln w="12700">
            <a:solidFill>
              <a:srgbClr val="00D2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8046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</a:rPr>
              <a:t>10,000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Training Samples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496312" y="777240"/>
            <a:ext cx="1965960" cy="777240"/>
          </a:xfrm>
          <a:prstGeom prst="rect">
            <a:avLst/>
          </a:prstGeom>
          <a:solidFill>
            <a:srgbClr val="1C2540"/>
          </a:solidFill>
          <a:ln w="12700">
            <a:solidFill>
              <a:srgbClr val="7B2F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96312" y="8046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2FFF"/>
                </a:solidFill>
              </a:rPr>
              <a:t>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96312" y="1143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Input Features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81144" y="777240"/>
            <a:ext cx="1965960" cy="777240"/>
          </a:xfrm>
          <a:prstGeom prst="rect">
            <a:avLst/>
          </a:prstGeom>
          <a:solidFill>
            <a:srgbClr val="1C2540"/>
          </a:solidFill>
          <a:ln w="12700">
            <a:solidFill>
              <a:srgbClr val="00E57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81144" y="8046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76"/>
                </a:solidFill>
              </a:rPr>
              <a:t>80/20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81144" y="1143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Train / Test Split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65976" y="777240"/>
            <a:ext cx="1965960" cy="777240"/>
          </a:xfrm>
          <a:prstGeom prst="rect">
            <a:avLst/>
          </a:prstGeom>
          <a:solidFill>
            <a:srgbClr val="1C2540"/>
          </a:solidFill>
          <a:ln w="12700">
            <a:solidFill>
              <a:srgbClr val="FFB30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65976" y="8046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00"/>
                </a:solidFill>
              </a:rPr>
              <a:t>PKR 200+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65976" y="1143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</a:rPr>
              <a:t>Minimum Fare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19072"/>
          <a:ext cx="8321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3566160"/>
                <a:gridCol w="2240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4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4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4FF"/>
                          </a:solidFill>
                        </a:rPr>
                        <a:t>Values / Range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4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pickup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downtown, airport, suburb, midtown, uptown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Origin zone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</a:rPr>
                        <a:t>dropoff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</a:rPr>
                        <a:t>downtown, airport, suburb, midtown, uptown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</a:rPr>
                        <a:t>Destination zone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distance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Numerical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1 – 80 km (uniform)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Primary fare driver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</a:rPr>
                        <a:t>passengers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</a:rPr>
                        <a:t>Numerical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</a:rPr>
                        <a:t>1 – 6 (integer)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</a:rPr>
                        <a:t>Ride occupancy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timeofday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morning, midday, evening, night, latenight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Time context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</a:rPr>
                        <a:t>traffic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</a:rPr>
                        <a:t>low, medium, high, jam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DC3"/>
                          </a:solidFill>
                        </a:rPr>
                        <a:t>Surge multiplier source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ridetype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Categorical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standard, xl, premium, economy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4FF"/>
                          </a:solidFill>
                        </a:rPr>
                        <a:t>Service tier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Models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DC3"/>
                </a:solidFill>
              </a:rPr>
              <a:t>Three scikit-learn regressors inside a unified preprocessing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2651760" cy="3246120"/>
          </a:xfrm>
          <a:prstGeom prst="rect">
            <a:avLst/>
          </a:prstGeom>
          <a:solidFill>
            <a:srgbClr val="161D30"/>
          </a:solidFill>
          <a:ln w="12700">
            <a:solidFill>
              <a:srgbClr val="00D2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2651760" cy="50292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04872" y="1170432"/>
            <a:ext cx="594360" cy="274320"/>
          </a:xfrm>
          <a:prstGeom prst="rect">
            <a:avLst/>
          </a:prstGeom>
          <a:solidFill>
            <a:srgbClr val="00D2FF">
              <a:alpha val="25000"/>
            </a:srgbClr>
          </a:solidFill>
          <a:ln w="12700">
            <a:solidFill>
              <a:srgbClr val="00D2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11704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FF"/>
                </a:solidFill>
              </a:rPr>
              <a:t>94%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Parameters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DC3"/>
                </a:solidFill>
              </a:rPr>
              <a:t>n_estimators=100, random_state=42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0756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Builds 100 decision trees on bootstrapped subsets, averages their predictions to reduce variance. Handles non-linear fare relationships perfectly.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1638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Strengths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364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• Non-linear fare patterns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• Robust to outliers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• No feature scaling needed for tree splits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097280"/>
            <a:ext cx="2651760" cy="3246120"/>
          </a:xfrm>
          <a:prstGeom prst="rect">
            <a:avLst/>
          </a:prstGeom>
          <a:solidFill>
            <a:srgbClr val="161D30"/>
          </a:solidFill>
          <a:ln w="12700">
            <a:solidFill>
              <a:srgbClr val="7B2F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097280"/>
            <a:ext cx="2651760" cy="5029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FF"/>
                </a:solidFill>
              </a:rPr>
              <a:t>Gradient Boosting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85232" y="1170432"/>
            <a:ext cx="594360" cy="274320"/>
          </a:xfrm>
          <a:prstGeom prst="rect">
            <a:avLst/>
          </a:prstGeom>
          <a:solidFill>
            <a:srgbClr val="7B2FFF">
              <a:alpha val="25000"/>
            </a:srgbClr>
          </a:solidFill>
          <a:ln w="12700">
            <a:solidFill>
              <a:srgbClr val="7B2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1704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2FFF"/>
                </a:solidFill>
              </a:rPr>
              <a:t>92%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Parameters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DC3"/>
                </a:solidFill>
              </a:rPr>
              <a:t>n_estimators=100, random_state=42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20756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2286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Sequentially trains weak learners where each tree corrects the errors of the previous one, minimizing residuals through gradient descent.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31638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Strengths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3364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• Sequential error correction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• High accuracy on structured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• Good with traffic/surge patterns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1097280"/>
            <a:ext cx="2651760" cy="3246120"/>
          </a:xfrm>
          <a:prstGeom prst="rect">
            <a:avLst/>
          </a:prstGeom>
          <a:solidFill>
            <a:srgbClr val="161D30"/>
          </a:solidFill>
          <a:ln w="12700">
            <a:solidFill>
              <a:srgbClr val="FFB300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097280"/>
            <a:ext cx="2651760" cy="502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</a:rPr>
              <a:t>Linear Regression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65592" y="1170432"/>
            <a:ext cx="594360" cy="274320"/>
          </a:xfrm>
          <a:prstGeom prst="rect">
            <a:avLst/>
          </a:prstGeom>
          <a:solidFill>
            <a:srgbClr val="FFB300">
              <a:alpha val="25000"/>
            </a:srgbClr>
          </a:solidFill>
          <a:ln w="12700">
            <a:solidFill>
              <a:srgbClr val="FFB300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65592" y="11704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00"/>
                </a:solidFill>
              </a:rPr>
              <a:t>74%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Parameters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1773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DC3"/>
                </a:solidFill>
              </a:rPr>
              <a:t>No hyperparameters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20756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2286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Fits a hyperplane in feature space. Fast and interpretable but cannot capture the non-linear 1.8× jam and 2.0× premium multipliers in the fare formula.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31638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A8A"/>
                </a:solidFill>
              </a:rPr>
              <a:t>Strengths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336499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• Fully interpretable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• Baseline 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• Fast inference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Comparison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77724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10128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554480"/>
                <a:gridCol w="109728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4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4FF"/>
                          </a:solidFill>
                        </a:rPr>
                        <a:t>MAE (PKR)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4FF"/>
                          </a:solidFill>
                        </a:rPr>
                        <a:t>RMSE (PKR)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4FF"/>
                          </a:solidFill>
                        </a:rPr>
                        <a:t>R²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4FF"/>
                          </a:solidFill>
                        </a:rPr>
                        <a:t>Confidence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D2FF"/>
                          </a:solidFill>
                        </a:rPr>
                        <a:t>🥇 Random Forest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E576"/>
                          </a:solidFill>
                        </a:rPr>
                        <a:t>129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E576"/>
                          </a:solidFill>
                        </a:rPr>
                        <a:t>161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E576"/>
                          </a:solidFill>
                        </a:rPr>
                        <a:t>0.998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E576"/>
                          </a:solidFill>
                        </a:rPr>
                        <a:t>94%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7B2FFF"/>
                          </a:solidFill>
                        </a:rPr>
                        <a:t>🥈 Gradient Boosting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F4FF"/>
                          </a:solidFill>
                        </a:rPr>
                        <a:t>141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F4FF"/>
                          </a:solidFill>
                        </a:rPr>
                        <a:t>187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F4FF"/>
                          </a:solidFill>
                        </a:rPr>
                        <a:t>0.998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0F4FF"/>
                          </a:solidFill>
                        </a:rPr>
                        <a:t>92%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B300"/>
                          </a:solidFill>
                        </a:rPr>
                        <a:t>🥉 Linear Regression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4757"/>
                          </a:solidFill>
                        </a:rPr>
                        <a:t>957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4757"/>
                          </a:solidFill>
                        </a:rPr>
                        <a:t>1,418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B300"/>
                          </a:solidFill>
                        </a:rPr>
                        <a:t>0.874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B300"/>
                          </a:solidFill>
                        </a:rPr>
                        <a:t>74%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Model — Random Forest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2FF"/>
                </a:solidFill>
              </a:rPr>
              <a:t>R² = 0.998 — explains 99.8% of fare variance across all trip scenarios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1920240" cy="1005840"/>
          </a:xfrm>
          <a:prstGeom prst="rect">
            <a:avLst/>
          </a:prstGeom>
          <a:solidFill>
            <a:srgbClr val="1C2540"/>
          </a:solidFill>
          <a:ln w="12700">
            <a:solidFill>
              <a:srgbClr val="00E57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76"/>
                </a:solidFill>
              </a:rPr>
              <a:t>PKR 129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581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Mean Absolute Error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1078992"/>
            <a:ext cx="1920240" cy="1005840"/>
          </a:xfrm>
          <a:prstGeom prst="rect">
            <a:avLst/>
          </a:prstGeom>
          <a:solidFill>
            <a:srgbClr val="1C2540"/>
          </a:solidFill>
          <a:ln w="12700">
            <a:solidFill>
              <a:srgbClr val="00D2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2FF"/>
                </a:solidFill>
              </a:rPr>
              <a:t>PKR 161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14600" y="1581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Root Mean Square Error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1078992"/>
            <a:ext cx="1920240" cy="1005840"/>
          </a:xfrm>
          <a:prstGeom prst="rect">
            <a:avLst/>
          </a:prstGeom>
          <a:solidFill>
            <a:srgbClr val="1C2540"/>
          </a:solidFill>
          <a:ln w="12700">
            <a:solidFill>
              <a:srgbClr val="7B2F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2FFF"/>
                </a:solidFill>
              </a:rPr>
              <a:t>0.998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1581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R² Score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20840" y="1078992"/>
            <a:ext cx="1920240" cy="1005840"/>
          </a:xfrm>
          <a:prstGeom prst="rect">
            <a:avLst/>
          </a:prstGeom>
          <a:solidFill>
            <a:srgbClr val="1C2540"/>
          </a:solidFill>
          <a:ln w="12700">
            <a:solidFill>
              <a:srgbClr val="FFB300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00"/>
                </a:solidFill>
              </a:rPr>
              <a:t>94%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20840" y="1581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Confidence Level</a:t>
            </a:r>
            <a:endParaRPr lang="en-US" sz="9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2286000"/>
          <a:ext cx="32004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3794760" y="2286000"/>
            <a:ext cx="2468880" cy="1051560"/>
          </a:xfrm>
          <a:prstGeom prst="rect">
            <a:avLst/>
          </a:prstGeom>
          <a:solidFill>
            <a:srgbClr val="161D30"/>
          </a:solidFill>
          <a:ln w="12700">
            <a:solidFill>
              <a:srgbClr val="00D2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904488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</a:rPr>
              <a:t>Ensemble Power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904488" y="26700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DC3"/>
                </a:solidFill>
              </a:rPr>
              <a:t>100 trees vote on each prediction, averaging out individual errors for robustness.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0" y="2286000"/>
            <a:ext cx="2468880" cy="1051560"/>
          </a:xfrm>
          <a:prstGeom prst="rect">
            <a:avLst/>
          </a:prstGeom>
          <a:solidFill>
            <a:srgbClr val="161D30"/>
          </a:solidFill>
          <a:ln w="12700">
            <a:solidFill>
              <a:srgbClr val="00D2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10528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</a:rPr>
              <a:t>Non-Linear Multipliers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10528" y="26700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DC3"/>
                </a:solidFill>
              </a:rPr>
              <a:t>Captures 1.8× jam and 2.0× premium multipliers without explicit encoding.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794760" y="3474720"/>
            <a:ext cx="2468880" cy="1051560"/>
          </a:xfrm>
          <a:prstGeom prst="rect">
            <a:avLst/>
          </a:prstGeom>
          <a:solidFill>
            <a:srgbClr val="161D30"/>
          </a:solidFill>
          <a:ln w="12700">
            <a:solidFill>
              <a:srgbClr val="00D2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904488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</a:rPr>
              <a:t>Feature Interactions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904488" y="38587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DC3"/>
                </a:solidFill>
              </a:rPr>
              <a:t>Naturally discovers interactions between distance, traffic, and ride type.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400800" y="3474720"/>
            <a:ext cx="2468880" cy="1051560"/>
          </a:xfrm>
          <a:prstGeom prst="rect">
            <a:avLst/>
          </a:prstGeom>
          <a:solidFill>
            <a:srgbClr val="161D30"/>
          </a:solidFill>
          <a:ln w="12700">
            <a:solidFill>
              <a:srgbClr val="00D2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510528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</a:rPr>
              <a:t>Variance Reduction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510528" y="38587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DC3"/>
                </a:solidFill>
              </a:rPr>
              <a:t>Bootstrap aggregation prevents overfitting to any single data subset.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DC3"/>
                </a:solidFill>
              </a:rPr>
              <a:t>Flask REST API + Dark-Themed Responsive Web Interface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</a:rPr>
              <a:t>API Endpoints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7863840" cy="438912"/>
          </a:xfrm>
          <a:prstGeom prst="rect">
            <a:avLst/>
          </a:prstGeom>
          <a:solidFill>
            <a:srgbClr val="161D30"/>
          </a:solidFill>
          <a:ln w="12700">
            <a:solidFill>
              <a:srgbClr val="1C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685800" cy="438912"/>
          </a:xfrm>
          <a:prstGeom prst="rect">
            <a:avLst/>
          </a:prstGeom>
          <a:solidFill>
            <a:srgbClr val="00E576">
              <a:alpha val="28000"/>
            </a:srgbClr>
          </a:solidFill>
          <a:ln w="12700">
            <a:solidFill>
              <a:srgbClr val="00E57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76"/>
                </a:solidFill>
              </a:rPr>
              <a:t>GET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0432" y="14538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14721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Serve the web UI (Dark HTML/CSS/JS)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929384"/>
            <a:ext cx="7863840" cy="438912"/>
          </a:xfrm>
          <a:prstGeom prst="rect">
            <a:avLst/>
          </a:prstGeom>
          <a:solidFill>
            <a:srgbClr val="161D30"/>
          </a:solidFill>
          <a:ln w="12700">
            <a:solidFill>
              <a:srgbClr val="1C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929384"/>
            <a:ext cx="685800" cy="438912"/>
          </a:xfrm>
          <a:prstGeom prst="rect">
            <a:avLst/>
          </a:prstGeom>
          <a:solidFill>
            <a:srgbClr val="00D2FF">
              <a:alpha val="28000"/>
            </a:srgbClr>
          </a:solidFill>
          <a:ln w="12700">
            <a:solidFill>
              <a:srgbClr val="00D2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29384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FF"/>
                </a:solidFill>
              </a:rPr>
              <a:t>POST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70432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19842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Single model prediction (default: Random Forest)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441448"/>
            <a:ext cx="7863840" cy="438912"/>
          </a:xfrm>
          <a:prstGeom prst="rect">
            <a:avLst/>
          </a:prstGeom>
          <a:solidFill>
            <a:srgbClr val="161D30"/>
          </a:solidFill>
          <a:ln w="12700">
            <a:solidFill>
              <a:srgbClr val="1C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441448"/>
            <a:ext cx="685800" cy="438912"/>
          </a:xfrm>
          <a:prstGeom prst="rect">
            <a:avLst/>
          </a:prstGeom>
          <a:solidFill>
            <a:srgbClr val="00D2FF">
              <a:alpha val="28000"/>
            </a:srgbClr>
          </a:solidFill>
          <a:ln w="12700">
            <a:solidFill>
              <a:srgbClr val="00D2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4144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FF"/>
                </a:solidFill>
              </a:rPr>
              <a:t>POST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70432" y="24780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24963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Side-by-side predictions from all 3 models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953512"/>
            <a:ext cx="7863840" cy="438912"/>
          </a:xfrm>
          <a:prstGeom prst="rect">
            <a:avLst/>
          </a:prstGeom>
          <a:solidFill>
            <a:srgbClr val="161D30"/>
          </a:solidFill>
          <a:ln w="12700">
            <a:solidFill>
              <a:srgbClr val="1C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953512"/>
            <a:ext cx="685800" cy="438912"/>
          </a:xfrm>
          <a:prstGeom prst="rect">
            <a:avLst/>
          </a:prstGeom>
          <a:solidFill>
            <a:srgbClr val="00D2FF">
              <a:alpha val="28000"/>
            </a:srgbClr>
          </a:solidFill>
          <a:ln w="12700">
            <a:solidFill>
              <a:srgbClr val="00D2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53512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FF"/>
                </a:solidFill>
              </a:rPr>
              <a:t>POST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70432" y="29900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/predict_best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46120" y="300837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Auto-selects model with lowest fare estimate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465576"/>
            <a:ext cx="7863840" cy="438912"/>
          </a:xfrm>
          <a:prstGeom prst="rect">
            <a:avLst/>
          </a:prstGeom>
          <a:solidFill>
            <a:srgbClr val="161D30"/>
          </a:solidFill>
          <a:ln w="12700">
            <a:solidFill>
              <a:srgbClr val="1C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465576"/>
            <a:ext cx="685800" cy="438912"/>
          </a:xfrm>
          <a:prstGeom prst="rect">
            <a:avLst/>
          </a:prstGeom>
          <a:solidFill>
            <a:srgbClr val="00E576">
              <a:alpha val="28000"/>
            </a:srgbClr>
          </a:solidFill>
          <a:ln w="12700">
            <a:solidFill>
              <a:srgbClr val="00E576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465576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76"/>
                </a:solidFill>
              </a:rPr>
              <a:t>GET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70432" y="3502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35204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Returns model metadata: MAE, RMSE, R², color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FF"/>
                </a:solidFill>
              </a:rPr>
              <a:t>UI Features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" y="43159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DC3"/>
                </a:solidFill>
              </a:rPr>
              <a:t>• Dark glassmorphism theme   • Real-time Chart.js visualizations   • Surge pricing indicator (1.5× for jam/high traffic)   • Model selector + comparison mode   • Responsive Poppins font layout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 &amp;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04672"/>
            <a:ext cx="3977640" cy="1417320"/>
          </a:xfrm>
          <a:prstGeom prst="rect">
            <a:avLst/>
          </a:prstGeom>
          <a:solidFill>
            <a:srgbClr val="161D30"/>
          </a:solidFill>
          <a:ln w="12700">
            <a:solidFill>
              <a:srgbClr val="00D2FF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804672"/>
            <a:ext cx="3977640" cy="50292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14400"/>
            <a:ext cx="3739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</a:rPr>
              <a:t>🏆  Tree-based models dominate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280160"/>
            <a:ext cx="3739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Both Random Forest (R²=0.998) and Gradient Boosting (R²=0.998) achieve near-perfect accuracy. Ensemble methods are clearly the right choice for this structured, rule-based fare dataset.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804672"/>
            <a:ext cx="3977640" cy="1417320"/>
          </a:xfrm>
          <a:prstGeom prst="rect">
            <a:avLst/>
          </a:prstGeom>
          <a:solidFill>
            <a:srgbClr val="161D30"/>
          </a:solidFill>
          <a:ln w="12700">
            <a:solidFill>
              <a:srgbClr val="7B2FFF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804672"/>
            <a:ext cx="3977640" cy="5029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914400"/>
            <a:ext cx="3739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FF"/>
                </a:solidFill>
              </a:rPr>
              <a:t>⚡  Fare structure is highly learnable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82312" y="1280160"/>
            <a:ext cx="3739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The multiplicative fare formula (base + distance × rate × multipliers) creates clear patterns. Tree-based models capture the non-linear 1.8× jam and 2.0× premium surcharges effortlessly.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404872"/>
            <a:ext cx="3977640" cy="1417320"/>
          </a:xfrm>
          <a:prstGeom prst="rect">
            <a:avLst/>
          </a:prstGeom>
          <a:solidFill>
            <a:srgbClr val="161D30"/>
          </a:solidFill>
          <a:ln w="12700">
            <a:solidFill>
              <a:srgbClr val="FFB300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404872"/>
            <a:ext cx="3977640" cy="502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514600"/>
            <a:ext cx="3739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</a:rPr>
              <a:t>❌  Linear Regression is insufficient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2880360"/>
            <a:ext cx="3739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With MAE=PKR 957 and R²=0.874, Linear Regression misses the multiplicative interactions. It serves only as a lower-bound baseline — not suitable for production fare estimates.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404872"/>
            <a:ext cx="3977640" cy="1417320"/>
          </a:xfrm>
          <a:prstGeom prst="rect">
            <a:avLst/>
          </a:prstGeom>
          <a:solidFill>
            <a:srgbClr val="161D30"/>
          </a:solidFill>
          <a:ln w="12700">
            <a:solidFill>
              <a:srgbClr val="00E576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404872"/>
            <a:ext cx="3977640" cy="50292"/>
          </a:xfrm>
          <a:prstGeom prst="rect">
            <a:avLst/>
          </a:prstGeom>
          <a:solidFill>
            <a:srgbClr val="00E576"/>
          </a:solidFill>
          <a:ln w="12700">
            <a:solidFill>
              <a:srgbClr val="00E5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2514600"/>
            <a:ext cx="3739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76"/>
                </a:solidFill>
              </a:rPr>
              <a:t>🎯  Random Forest is the production choice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2880360"/>
            <a:ext cx="3739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Lowest MAE (PKR 129), lowest RMSE (PKR 161), and highest confidence (94%). Selected as the default model in taxi_fare_model.pkl and the /predict_best fallback.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005072"/>
            <a:ext cx="3977640" cy="1417320"/>
          </a:xfrm>
          <a:prstGeom prst="rect">
            <a:avLst/>
          </a:prstGeom>
          <a:solidFill>
            <a:srgbClr val="161D30"/>
          </a:solidFill>
          <a:ln w="12700">
            <a:solidFill>
              <a:srgbClr val="0080FF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4005072"/>
            <a:ext cx="3977640" cy="50292"/>
          </a:xfrm>
          <a:prstGeom prst="rect">
            <a:avLst/>
          </a:prstGeom>
          <a:solidFill>
            <a:srgbClr val="0080FF"/>
          </a:solidFill>
          <a:ln w="12700">
            <a:solidFill>
              <a:srgbClr val="008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114800"/>
            <a:ext cx="3739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0FF"/>
                </a:solidFill>
              </a:rPr>
              <a:t>🌐  Real-time API performs well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4480560"/>
            <a:ext cx="3739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The Flask REST API with joblib-loaded Pipeline objects delivers sub-millisecond predictions. All three models load at startup with graceful error handling if any .pkl file is missing.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4005072"/>
            <a:ext cx="3977640" cy="1417320"/>
          </a:xfrm>
          <a:prstGeom prst="rect">
            <a:avLst/>
          </a:prstGeom>
          <a:solidFill>
            <a:srgbClr val="161D30"/>
          </a:solidFill>
          <a:ln w="12700">
            <a:solidFill>
              <a:srgbClr val="FF4757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4005072"/>
            <a:ext cx="3977640" cy="5029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4114800"/>
            <a:ext cx="3739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</a:rPr>
              <a:t>📊  Surge pricing correctly identified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82312" y="4480560"/>
            <a:ext cx="3739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Traffic conditions 'high' and 'jam' trigger the 1.5× surge indicator in the API response. Models trained with the 1.8× jam multiplier in the dataset learn this pattern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0080FF">
              <a:alpha val="15000"/>
            </a:srgbClr>
          </a:solidFill>
          <a:ln w="12700">
            <a:solidFill>
              <a:srgbClr val="008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4572000" cy="4572000"/>
          </a:xfrm>
          <a:prstGeom prst="ellipse">
            <a:avLst/>
          </a:prstGeom>
          <a:solidFill>
            <a:srgbClr val="7B2FFF">
              <a:alpha val="15000"/>
            </a:srgbClr>
          </a:solidFill>
          <a:ln w="12700">
            <a:solidFill>
              <a:srgbClr val="7B2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3977640" cy="3108960"/>
          </a:xfrm>
          <a:prstGeom prst="rect">
            <a:avLst/>
          </a:prstGeom>
          <a:solidFill>
            <a:srgbClr val="161D30"/>
          </a:solidFill>
          <a:ln w="12700">
            <a:solidFill>
              <a:srgbClr val="00D2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896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D2FF"/>
                </a:solidFill>
              </a:rPr>
              <a:t>✅  Achievements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Trained 3 ML models on 10,000-sample dataset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Random Forest achieves R² = 0.998 (near-perfect)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Gradient Boosting achieves R² = 0.998 as runner-up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Full scikit-learn Pipeline with preprocessing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Flask REST API with 5 endpoints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Dark responsive web UI with real-time predictions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Side-by-side model comparison feature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Surge pricing detection (1.5× for jam/high traffic)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3977640" cy="3108960"/>
          </a:xfrm>
          <a:prstGeom prst="rect">
            <a:avLst/>
          </a:prstGeom>
          <a:solidFill>
            <a:srgbClr val="161D30"/>
          </a:solidFill>
          <a:ln w="12700">
            <a:solidFill>
              <a:srgbClr val="7B2F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896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2FFF"/>
                </a:solidFill>
              </a:rPr>
              <a:t>🚀  Future Work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37760" y="13258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Integrate real Uber/Careem Pakistan trip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Add GPS coordinates instead of zone categories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Time-series model for dynamic surge prediction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Deep Learning (XGBoost / Neural Network) models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Mobile app (React Native or Flutter)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Real-time traffic API integration (Google Maps)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User feedback loop for continuous model retraining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</a:rPr>
              <a:t>• Multi-city support (Karachi, Lahore, Islamabad)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4114800"/>
            <a:ext cx="8321040" cy="713232"/>
          </a:xfrm>
          <a:prstGeom prst="rect">
            <a:avLst/>
          </a:prstGeom>
          <a:solidFill>
            <a:srgbClr val="1C2540"/>
          </a:solidFill>
          <a:ln w="12700">
            <a:solidFill>
              <a:srgbClr val="00D2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1148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2FF"/>
                </a:solidFill>
              </a:rPr>
              <a:t>RideFare AI</a:t>
            </a:r>
            <a:pPr algn="ctr" indent="0" marL="0">
              <a:buNone/>
            </a:pPr>
            <a:r>
              <a:rPr lang="en-US" sz="1300" dirty="0">
                <a:solidFill>
                  <a:srgbClr val="8B9DC3"/>
                </a:solidFill>
              </a:rPr>
              <a:t>  —  Bringing transparency and intelligence to every ride in Pakistan.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RideFare AI — Taxi Trip Cost Predictor</dc:title>
  <dc:subject>PptxGenJS Presentation</dc:subject>
  <dc:creator>RideFare AI Team</dc:creator>
  <cp:lastModifiedBy>RideFare AI Team</cp:lastModifiedBy>
  <cp:revision>1</cp:revision>
  <dcterms:created xsi:type="dcterms:W3CDTF">2026-04-28T17:15:11Z</dcterms:created>
  <dcterms:modified xsi:type="dcterms:W3CDTF">2026-04-28T17:15:11Z</dcterms:modified>
</cp:coreProperties>
</file>